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Fira Sans"/>
      <p:regular r:id="rId201314"/>
    </p:embeddedFont>
    <p:embeddedFont>
      <p:font typeface="Fira Sans Medium"/>
      <p:regular r:id="rId201315"/>
    </p:embeddedFont>
    <p:embeddedFont>
      <p:font typeface="Fira Sans Bold"/>
      <p:regular r:id="rId201316"/>
    </p:embeddedFont>
    <p:embeddedFont>
      <p:font typeface="Fira Sans Condensed Medium"/>
      <p:regular r:id="rId201317"/>
    </p:embeddedFont>
    <p:embeddedFont>
      <p:font typeface="Fira Sans Condensed SemiBold"/>
      <p:regular r:id="rId201318"/>
    </p:embeddedFont>
    <p:embeddedFont>
      <p:font typeface="Fira Sans Condensed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3B0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3B0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DC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2C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3556000"/>
            <a:ext cx="9651759" cy="2806601"/>
          </a:xfrm>
          <a:prstGeom prst="rect">
            <a:avLst/>
          </a:prstGeom>
          <a:solidFill>
            <a:srgbClr val="F8E5CF"/>
          </a:solidFill>
          <a:ln/>
        </p:spPr>
      </p:sp>
      <p:sp>
        <p:nvSpPr>
          <p:cNvPr id="3" name="Text 1"/>
          <p:cNvSpPr/>
          <p:nvPr/>
        </p:nvSpPr>
        <p:spPr>
          <a:xfrm>
            <a:off x="1041374" y="3819525"/>
            <a:ext cx="95501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DESIGN AND ANALYSIS OF ALGORITHMS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1374" y="4151567"/>
            <a:ext cx="8940576" cy="1191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0" b="1" spc="-92" kern="100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Dijkstra’s Algorithm</a:t>
            </a:r>
            <a:endParaRPr lang="en-US" sz="46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600" b="1" spc="-92" kern="100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Finds the Cheapest Route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041374" y="5565180"/>
            <a:ext cx="2950295" cy="69751"/>
          </a:xfrm>
          <a:prstGeom prst="roundRect">
            <a:avLst>
              <a:gd name="adj" fmla="val 49999"/>
            </a:avLst>
          </a:prstGeom>
          <a:solidFill>
            <a:srgbClr val="1E4D48"/>
          </a:solidFill>
          <a:ln/>
        </p:spPr>
      </p:sp>
      <p:sp>
        <p:nvSpPr>
          <p:cNvPr id="6" name="Text 4"/>
          <p:cNvSpPr/>
          <p:nvPr/>
        </p:nvSpPr>
        <p:spPr>
          <a:xfrm>
            <a:off x="1041374" y="5881346"/>
            <a:ext cx="9550161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2A1A12"/>
                </a:solidFill>
                <a:latin typeface="Fira Sans Condensed Medium" pitchFamily="34" charset="0"/>
                <a:ea typeface="Fira Sans Condensed Medium" pitchFamily="34" charset="-122"/>
                <a:cs typeface="Fira Sans Condensed Medium" pitchFamily="34" charset="-120"/>
              </a:rPr>
              <a:t>Single-source shortest paths · non-negative edge weights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09625"/>
            <a:ext cx="40842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117092"/>
            <a:ext cx="3474653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700" b="1" spc="-32" kern="100" dirty="0">
                <a:solidFill>
                  <a:srgbClr val="24140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From a weighted graph to a shortest-path problem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585" y="2474516"/>
            <a:ext cx="1146543" cy="69751"/>
          </a:xfrm>
          <a:prstGeom prst="roundRect">
            <a:avLst>
              <a:gd name="adj" fmla="val 49999"/>
            </a:avLst>
          </a:prstGeom>
          <a:solidFill>
            <a:srgbClr val="1E4D4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790428"/>
            <a:ext cx="347465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Given a source vertex </a:t>
            </a:r>
            <a:pPr algn="l" indent="0" marL="0">
              <a:lnSpc>
                <a:spcPct val="117000"/>
              </a:lnSpc>
              <a:buNone/>
            </a:pPr>
            <a:r>
              <a:rPr lang="en-US" sz="2000" i="1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</a:t>
            </a:r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find the minimum-cost path from </a:t>
            </a:r>
            <a:pPr algn="l" indent="0" marL="0">
              <a:lnSpc>
                <a:spcPct val="117000"/>
              </a:lnSpc>
              <a:buNone/>
            </a:pPr>
            <a:r>
              <a:rPr lang="en-US" sz="2000" i="1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</a:t>
            </a:r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to every reachable vertex.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4050903"/>
            <a:ext cx="3474653" cy="200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Edges carry non-negative weights: distance, time, cost, or another additive measure.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Return shortest distances, then reconstruct each path with predecessor pointers.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497" y="1627088"/>
            <a:ext cx="5821614" cy="36038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01253" y="1859958"/>
            <a:ext cx="1098221" cy="16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13" kern="100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Edge Types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01253" y="2102167"/>
            <a:ext cx="1098221" cy="67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Non‑negative weights labeled distance, time, or cost.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337312" y="3158207"/>
            <a:ext cx="1098220" cy="33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13" kern="100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Shortest Distances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337312" y="3570217"/>
            <a:ext cx="1098220" cy="50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Computed d[v] values for all reachable vertices.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901253" y="3792778"/>
            <a:ext cx="1098221" cy="16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13" kern="100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Predecessors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01253" y="4034987"/>
            <a:ext cx="1098221" cy="67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Predecessor pointers π[v] to reconstruct shortest paths.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89695"/>
            <a:ext cx="36931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THE GREEDY INVARIANT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197162"/>
            <a:ext cx="3083542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700" b="1" spc="-32" kern="100" dirty="0">
                <a:solidFill>
                  <a:srgbClr val="24140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The greedy choice makes one distance permanent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585" y="2554585"/>
            <a:ext cx="1017463" cy="69751"/>
          </a:xfrm>
          <a:prstGeom prst="roundRect">
            <a:avLst>
              <a:gd name="adj" fmla="val 49999"/>
            </a:avLst>
          </a:prstGeom>
          <a:solidFill>
            <a:srgbClr val="1E4D4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870498"/>
            <a:ext cx="3083542" cy="3107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Maintain a tentative distance </a:t>
            </a:r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i="1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d[v]</a:t>
            </a:r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for every vertex. Start with </a:t>
            </a:r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i="1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d[s] = 0</a:t>
            </a:r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and all others = ∞.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Choose the unvisited vertex with the smallest tentative distance.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Non-negative edges mean no later route can make that chosen distance smaller.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759801" y="1817390"/>
            <a:ext cx="2274037" cy="2573437"/>
          </a:xfrm>
          <a:prstGeom prst="rect">
            <a:avLst/>
          </a:prstGeom>
          <a:solidFill>
            <a:srgbClr val="DCE7DA"/>
          </a:solidFill>
          <a:ln/>
        </p:spPr>
      </p:sp>
      <p:sp>
        <p:nvSpPr>
          <p:cNvPr id="7" name="Shape 5"/>
          <p:cNvSpPr/>
          <p:nvPr/>
        </p:nvSpPr>
        <p:spPr>
          <a:xfrm>
            <a:off x="4962996" y="2045990"/>
            <a:ext cx="485763" cy="485775"/>
          </a:xfrm>
          <a:prstGeom prst="rect">
            <a:avLst/>
          </a:prstGeom>
          <a:solidFill>
            <a:srgbClr val="F2C04A"/>
          </a:solidFill>
          <a:ln/>
        </p:spPr>
      </p:sp>
      <p:sp>
        <p:nvSpPr>
          <p:cNvPr id="8" name="Text 6"/>
          <p:cNvSpPr/>
          <p:nvPr/>
        </p:nvSpPr>
        <p:spPr>
          <a:xfrm>
            <a:off x="5067272" y="2153940"/>
            <a:ext cx="88679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962996" y="2618085"/>
            <a:ext cx="1867548" cy="19050"/>
          </a:xfrm>
          <a:prstGeom prst="rect">
            <a:avLst/>
          </a:prstGeom>
          <a:solidFill>
            <a:srgbClr val="1E4D48"/>
          </a:solidFill>
          <a:ln/>
        </p:spPr>
      </p:sp>
      <p:sp>
        <p:nvSpPr>
          <p:cNvPr id="10" name="Text 8"/>
          <p:cNvSpPr/>
          <p:nvPr/>
        </p:nvSpPr>
        <p:spPr>
          <a:xfrm>
            <a:off x="4962996" y="2773759"/>
            <a:ext cx="186764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Estimate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962996" y="3255566"/>
            <a:ext cx="186764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i="1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d[s] = 0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; every other distance is ∞.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38630" y="1817390"/>
            <a:ext cx="2274136" cy="2573437"/>
          </a:xfrm>
          <a:prstGeom prst="rect">
            <a:avLst/>
          </a:prstGeom>
          <a:solidFill>
            <a:srgbClr val="F8E5CF"/>
          </a:solidFill>
          <a:ln/>
        </p:spPr>
      </p:sp>
      <p:sp>
        <p:nvSpPr>
          <p:cNvPr id="13" name="Shape 11"/>
          <p:cNvSpPr/>
          <p:nvPr/>
        </p:nvSpPr>
        <p:spPr>
          <a:xfrm>
            <a:off x="7541825" y="2045990"/>
            <a:ext cx="485763" cy="485775"/>
          </a:xfrm>
          <a:prstGeom prst="rect">
            <a:avLst/>
          </a:prstGeom>
          <a:solidFill>
            <a:srgbClr val="F2C04A"/>
          </a:solidFill>
          <a:ln/>
        </p:spPr>
      </p:sp>
      <p:sp>
        <p:nvSpPr>
          <p:cNvPr id="14" name="Text 12"/>
          <p:cNvSpPr/>
          <p:nvPr/>
        </p:nvSpPr>
        <p:spPr>
          <a:xfrm>
            <a:off x="7637470" y="2153940"/>
            <a:ext cx="904059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02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541825" y="2618085"/>
            <a:ext cx="1867746" cy="19050"/>
          </a:xfrm>
          <a:prstGeom prst="rect">
            <a:avLst/>
          </a:prstGeom>
          <a:solidFill>
            <a:srgbClr val="1E4D48"/>
          </a:solidFill>
          <a:ln/>
        </p:spPr>
      </p:sp>
      <p:sp>
        <p:nvSpPr>
          <p:cNvPr id="16" name="Text 14"/>
          <p:cNvSpPr/>
          <p:nvPr/>
        </p:nvSpPr>
        <p:spPr>
          <a:xfrm>
            <a:off x="7541825" y="2773759"/>
            <a:ext cx="186774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Choose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541825" y="3255566"/>
            <a:ext cx="186774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Take the smallest unsettled tentative distance.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917559" y="1817390"/>
            <a:ext cx="2274037" cy="2573437"/>
          </a:xfrm>
          <a:prstGeom prst="rect">
            <a:avLst/>
          </a:prstGeom>
          <a:solidFill>
            <a:srgbClr val="DCE7D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20754" y="2045990"/>
            <a:ext cx="485763" cy="485775"/>
          </a:xfrm>
          <a:prstGeom prst="rect">
            <a:avLst/>
          </a:prstGeom>
          <a:solidFill>
            <a:srgbClr val="F2C0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215803" y="2153940"/>
            <a:ext cx="90515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120754" y="2618085"/>
            <a:ext cx="1867548" cy="19050"/>
          </a:xfrm>
          <a:prstGeom prst="rect">
            <a:avLst/>
          </a:prstGeom>
          <a:solidFill>
            <a:srgbClr val="1E4D48"/>
          </a:solidFill>
          <a:ln/>
        </p:spPr>
      </p:sp>
      <p:sp>
        <p:nvSpPr>
          <p:cNvPr id="22" name="Text 20"/>
          <p:cNvSpPr/>
          <p:nvPr/>
        </p:nvSpPr>
        <p:spPr>
          <a:xfrm>
            <a:off x="10120754" y="2773759"/>
            <a:ext cx="186764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Finalize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120754" y="3255566"/>
            <a:ext cx="186764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That distance is now permanent.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59801" y="4813356"/>
            <a:ext cx="7431894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b="1" dirty="0">
                <a:solidFill>
                  <a:srgbClr val="4E2E1F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Then relax its outgoing edges:</a:t>
            </a:r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4E2E1F"/>
                </a:solidFill>
                <a:latin typeface="Fira Sans Condensed Medium" pitchFamily="34" charset="0"/>
                <a:ea typeface="Fira Sans Condensed Medium" pitchFamily="34" charset="-122"/>
                <a:cs typeface="Fira Sans Condensed Medium" pitchFamily="34" charset="-120"/>
              </a:rPr>
              <a:t> </a:t>
            </a:r>
            <a:pPr algn="l" indent="0" marL="0">
              <a:lnSpc>
                <a:spcPct val="107000"/>
              </a:lnSpc>
              <a:buNone/>
            </a:pPr>
            <a:r>
              <a:rPr lang="en-US" sz="1400" i="1" dirty="0">
                <a:solidFill>
                  <a:srgbClr val="4E2E1F"/>
                </a:solidFill>
                <a:latin typeface="Fira Sans Condensed Medium" pitchFamily="34" charset="0"/>
                <a:ea typeface="Fira Sans Condensed Medium" pitchFamily="34" charset="-122"/>
                <a:cs typeface="Fira Sans Condensed Medium" pitchFamily="34" charset="-120"/>
              </a:rPr>
              <a:t>d[v] ← min(d[v], d[u] + w(u,v))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558" y="390525"/>
            <a:ext cx="114741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WORKED TRACE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3558" y="701125"/>
            <a:ext cx="1086457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spc="-41" kern="100" dirty="0">
                <a:solidFill>
                  <a:srgbClr val="24140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Step by step: settle, relax, repeat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3558" y="1410891"/>
            <a:ext cx="3585279" cy="69751"/>
          </a:xfrm>
          <a:prstGeom prst="roundRect">
            <a:avLst>
              <a:gd name="adj" fmla="val 49999"/>
            </a:avLst>
          </a:prstGeom>
          <a:solidFill>
            <a:srgbClr val="1E4D48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473200"/>
            <a:ext cx="3301917" cy="1803400"/>
          </a:xfrm>
          <a:prstGeom prst="rect">
            <a:avLst/>
          </a:prstGeom>
          <a:solidFill>
            <a:srgbClr val="FBF1E7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1660525"/>
            <a:ext cx="35051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ROUND 1 · SETTLE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780" y="2054225"/>
            <a:ext cx="289552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Start at A: </a:t>
            </a:r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d(A) = 0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; all other distances are ∞.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Update B = 4, C = 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44889" y="1473200"/>
            <a:ext cx="3301917" cy="1803400"/>
          </a:xfrm>
          <a:prstGeom prst="rect">
            <a:avLst/>
          </a:prstGeom>
          <a:solidFill>
            <a:srgbClr val="FBF1E7"/>
          </a:solidFill>
          <a:ln/>
        </p:spPr>
      </p:sp>
      <p:sp>
        <p:nvSpPr>
          <p:cNvPr id="9" name="Text 7"/>
          <p:cNvSpPr/>
          <p:nvPr/>
        </p:nvSpPr>
        <p:spPr>
          <a:xfrm>
            <a:off x="4648084" y="1660525"/>
            <a:ext cx="35051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ROUND 2 · SETTLE 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8084" y="2054225"/>
            <a:ext cx="289552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 = 1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Improve B to 3; set D = 6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80193" y="1473200"/>
            <a:ext cx="3301917" cy="1803400"/>
          </a:xfrm>
          <a:prstGeom prst="rect">
            <a:avLst/>
          </a:prstGeom>
          <a:solidFill>
            <a:srgbClr val="FBF1E7"/>
          </a:solidFill>
          <a:ln/>
        </p:spPr>
      </p:sp>
      <p:sp>
        <p:nvSpPr>
          <p:cNvPr id="12" name="Text 10"/>
          <p:cNvSpPr/>
          <p:nvPr/>
        </p:nvSpPr>
        <p:spPr>
          <a:xfrm>
            <a:off x="8483388" y="1660525"/>
            <a:ext cx="35051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ROUND 3 · SETTLE 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83388" y="2054225"/>
            <a:ext cx="289552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B = 3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Improve D to 5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25559" y="4292600"/>
            <a:ext cx="1498563" cy="25400"/>
          </a:xfrm>
          <a:prstGeom prst="line">
            <a:avLst/>
          </a:prstGeom>
          <a:solidFill>
            <a:srgbClr val="1E4D48"/>
          </a:solidFill>
          <a:ln w="50800">
            <a:solidFill>
              <a:srgbClr val="1E4D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4122" y="4292600"/>
            <a:ext cx="1498563" cy="25400"/>
          </a:xfrm>
          <a:prstGeom prst="line">
            <a:avLst/>
          </a:prstGeom>
          <a:solidFill>
            <a:srgbClr val="1E4D48"/>
          </a:solidFill>
          <a:ln w="50800">
            <a:solidFill>
              <a:srgbClr val="1E4D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2684" y="4292600"/>
            <a:ext cx="1498563" cy="25400"/>
          </a:xfrm>
          <a:prstGeom prst="line">
            <a:avLst/>
          </a:prstGeom>
          <a:solidFill>
            <a:srgbClr val="1E4D48"/>
          </a:solidFill>
          <a:ln w="50800">
            <a:solidFill>
              <a:srgbClr val="1E4D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2173" y="3860800"/>
            <a:ext cx="863578" cy="863600"/>
          </a:xfrm>
          <a:prstGeom prst="ellipse">
            <a:avLst/>
          </a:prstGeom>
          <a:solidFill>
            <a:srgbClr val="1E4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2590735" y="3860800"/>
            <a:ext cx="863578" cy="863600"/>
          </a:xfrm>
          <a:prstGeom prst="ellipse">
            <a:avLst/>
          </a:prstGeom>
          <a:solidFill>
            <a:srgbClr val="F2C04A"/>
          </a:solidFill>
          <a:ln/>
        </p:spPr>
      </p:sp>
      <p:sp>
        <p:nvSpPr>
          <p:cNvPr id="19" name="Shape 17"/>
          <p:cNvSpPr/>
          <p:nvPr/>
        </p:nvSpPr>
        <p:spPr>
          <a:xfrm>
            <a:off x="4089298" y="3860800"/>
            <a:ext cx="863578" cy="863600"/>
          </a:xfrm>
          <a:prstGeom prst="ellipse">
            <a:avLst/>
          </a:prstGeom>
          <a:solidFill>
            <a:srgbClr val="F2C04A"/>
          </a:solidFill>
          <a:ln/>
        </p:spPr>
      </p:sp>
      <p:sp>
        <p:nvSpPr>
          <p:cNvPr id="20" name="Shape 18"/>
          <p:cNvSpPr/>
          <p:nvPr/>
        </p:nvSpPr>
        <p:spPr>
          <a:xfrm>
            <a:off x="5587860" y="3860800"/>
            <a:ext cx="863578" cy="863600"/>
          </a:xfrm>
          <a:prstGeom prst="ellipse">
            <a:avLst/>
          </a:prstGeom>
          <a:solidFill>
            <a:srgbClr val="F2C04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6146" y="4089400"/>
            <a:ext cx="75563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</a:t>
            </a:r>
            <a:endParaRPr lang="en-US" sz="17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644709" y="4089400"/>
            <a:ext cx="75563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</a:t>
            </a:r>
            <a:endParaRPr lang="en-US" sz="17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143271" y="4089400"/>
            <a:ext cx="75563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B</a:t>
            </a:r>
            <a:endParaRPr lang="en-US" sz="17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641834" y="4089400"/>
            <a:ext cx="75563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D</a:t>
            </a:r>
            <a:endParaRPr lang="en-US" sz="17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188020" y="3708400"/>
            <a:ext cx="4394090" cy="1625600"/>
          </a:xfrm>
          <a:prstGeom prst="rect">
            <a:avLst/>
          </a:prstGeom>
          <a:solidFill>
            <a:srgbClr val="F8E5CF"/>
          </a:solidFill>
          <a:ln/>
        </p:spPr>
      </p:sp>
      <p:sp>
        <p:nvSpPr>
          <p:cNvPr id="26" name="Text 24"/>
          <p:cNvSpPr/>
          <p:nvPr/>
        </p:nvSpPr>
        <p:spPr>
          <a:xfrm>
            <a:off x="7416614" y="3921125"/>
            <a:ext cx="454648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FINAL PREDECESSORS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16614" y="4314825"/>
            <a:ext cx="454648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A→C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A→C→B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A→C→B→D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16614" y="4810974"/>
            <a:ext cx="3936902" cy="45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4E2E1F"/>
                </a:solidFill>
                <a:latin typeface="Fira Sans Condensed Medium" pitchFamily="34" charset="0"/>
                <a:ea typeface="Fira Sans Condensed Medium" pitchFamily="34" charset="-122"/>
                <a:cs typeface="Fira Sans Condensed Medium" pitchFamily="34" charset="-120"/>
              </a:rPr>
              <a:t>Settle D = 5; every chosen minimum is settled before the next 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31894" cy="6858000"/>
          </a:xfrm>
          <a:prstGeom prst="rect">
            <a:avLst/>
          </a:prstGeom>
          <a:solidFill>
            <a:srgbClr val="2A1A12"/>
          </a:solidFill>
          <a:ln/>
        </p:spPr>
      </p:sp>
      <p:sp>
        <p:nvSpPr>
          <p:cNvPr id="3" name="Text 1"/>
          <p:cNvSpPr/>
          <p:nvPr/>
        </p:nvSpPr>
        <p:spPr>
          <a:xfrm>
            <a:off x="330192" y="920055"/>
            <a:ext cx="710170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FFFFFF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PSEUDOCODE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30192" y="1227522"/>
            <a:ext cx="677151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700" b="1" spc="-32" kern="100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Initialize, extract, relax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30192" y="1818977"/>
            <a:ext cx="6771510" cy="3885605"/>
          </a:xfrm>
          <a:prstGeom prst="roundRect">
            <a:avLst>
              <a:gd name="adj" fmla="val 833"/>
            </a:avLst>
          </a:prstGeom>
          <a:solidFill>
            <a:srgbClr val="FBF1E7"/>
          </a:solidFill>
          <a:ln/>
        </p:spPr>
      </p:sp>
      <p:sp>
        <p:nvSpPr>
          <p:cNvPr id="6" name="Text 4"/>
          <p:cNvSpPr/>
          <p:nvPr/>
        </p:nvSpPr>
        <p:spPr>
          <a:xfrm>
            <a:off x="589245" y="2034877"/>
            <a:ext cx="6253403" cy="3453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dist[s] ← 0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dist[v] ← ∞       for v ≠ s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← all vertices in a min-priority queue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Q is not empty: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← EXTRACT-MIN(Q)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edge (u, v):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dist[v] &gt; dist[u] + w(u,v):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dist[v] ← dist[u] + w(u,v)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parent[v] ← u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98568" y="1202630"/>
            <a:ext cx="36931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THE TWO QUEUE OPERATIONS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98568" y="1495524"/>
            <a:ext cx="308354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2A1A12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EXTRACT-MIN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98568" y="1977330"/>
            <a:ext cx="308354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Removes the vertex with the smallest tentative distance and finalizes 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98568" y="3259435"/>
            <a:ext cx="308354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2A1A12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DECREASE-KEY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498568" y="3741241"/>
            <a:ext cx="308354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Keeps a newly improved alternative near the front of the queue.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98568" y="4893965"/>
            <a:ext cx="1017463" cy="69751"/>
          </a:xfrm>
          <a:prstGeom prst="roundRect">
            <a:avLst>
              <a:gd name="adj" fmla="val 49999"/>
            </a:avLst>
          </a:prstGeom>
          <a:solidFill>
            <a:srgbClr val="1E4D48"/>
          </a:solidFill>
          <a:ln/>
        </p:spPr>
      </p:sp>
      <p:sp>
        <p:nvSpPr>
          <p:cNvPr id="13" name="Text 11"/>
          <p:cNvSpPr/>
          <p:nvPr/>
        </p:nvSpPr>
        <p:spPr>
          <a:xfrm>
            <a:off x="8498568" y="5210131"/>
            <a:ext cx="3083542" cy="45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4E2E1F"/>
                </a:solidFill>
                <a:latin typeface="Fira Sans Condensed Medium" pitchFamily="34" charset="0"/>
                <a:ea typeface="Fira Sans Condensed Medium" pitchFamily="34" charset="-122"/>
                <a:cs typeface="Fira Sans Condensed Medium" pitchFamily="34" charset="-120"/>
              </a:rPr>
              <a:t>The queue determines how quickly the same algorithm runs.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41325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IMPLEMENTATION CHOICE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748792"/>
            <a:ext cx="10972526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700" b="1" spc="-32" kern="100" dirty="0">
                <a:solidFill>
                  <a:srgbClr val="24140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The data structure changes the running time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585" y="1365647"/>
            <a:ext cx="3620798" cy="69751"/>
          </a:xfrm>
          <a:prstGeom prst="roundRect">
            <a:avLst>
              <a:gd name="adj" fmla="val 49999"/>
            </a:avLst>
          </a:prstGeom>
          <a:solidFill>
            <a:srgbClr val="1E4D48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585938"/>
            <a:ext cx="5333867" cy="2321024"/>
          </a:xfrm>
          <a:prstGeom prst="rect">
            <a:avLst/>
          </a:prstGeom>
          <a:solidFill>
            <a:srgbClr val="F8E5CF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900263"/>
            <a:ext cx="502907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ARRAY OR ADJACENCY MATRIX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377" y="3232305"/>
            <a:ext cx="4724282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0" b="1" spc="-92" kern="100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O(V²)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377" y="3997722"/>
            <a:ext cx="47242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Scan for the next minimum each round. A practical fit for dense graphs.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2585938"/>
            <a:ext cx="5333867" cy="2321024"/>
          </a:xfrm>
          <a:prstGeom prst="rect">
            <a:avLst/>
          </a:prstGeom>
          <a:solidFill>
            <a:srgbClr val="DCE7DA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36" y="2900263"/>
            <a:ext cx="502907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BINARY HEAP + ADJACENCY LIST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3036" y="3232305"/>
            <a:ext cx="4724282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0" b="1" spc="-92" kern="100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O((V+E) log V)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553036" y="3997722"/>
            <a:ext cx="47242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Extract and update priorities efficiently. A strong fit for sparse graphs.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585" y="5100892"/>
            <a:ext cx="11582110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b="1" dirty="0">
                <a:solidFill>
                  <a:srgbClr val="4E2E1F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Space:</a:t>
            </a:r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4E2E1F"/>
                </a:solidFill>
                <a:latin typeface="Fira Sans Condensed Medium" pitchFamily="34" charset="0"/>
                <a:ea typeface="Fira Sans Condensed Medium" pitchFamily="34" charset="-122"/>
                <a:cs typeface="Fira Sans Condensed Medium" pitchFamily="34" charset="-120"/>
              </a:rPr>
              <a:t> O(V+E) for the adjacency list, plus distances, parents, and the queue.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44984"/>
            <a:ext cx="64311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452451"/>
            <a:ext cx="5821614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700" b="1" spc="-32" kern="100" dirty="0">
                <a:solidFill>
                  <a:srgbClr val="24140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When Dijkstra is the right tool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585" y="2069306"/>
            <a:ext cx="1921125" cy="69751"/>
          </a:xfrm>
          <a:prstGeom prst="roundRect">
            <a:avLst>
              <a:gd name="adj" fmla="val 49999"/>
            </a:avLst>
          </a:prstGeom>
          <a:solidFill>
            <a:srgbClr val="1E4D4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85219"/>
            <a:ext cx="58216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 it when a route has additive cost and every edge weight is non-negative.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183334"/>
            <a:ext cx="5821614" cy="25391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2720" y="3244523"/>
            <a:ext cx="1262677" cy="16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spc="-13" kern="100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Core Cost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2720" y="3477877"/>
            <a:ext cx="1262677" cy="296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Non-negative route cost at center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031395" y="3640401"/>
            <a:ext cx="1262677" cy="16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13" kern="100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Road Navigation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31395" y="3873755"/>
            <a:ext cx="1262677" cy="296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Distance and travel-time routing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6711" y="4094495"/>
            <a:ext cx="1262677" cy="16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spc="-13" kern="100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Internet Routing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6711" y="4327849"/>
            <a:ext cx="1262677" cy="296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OSPF and IS-IS path selection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31395" y="4641738"/>
            <a:ext cx="1262677" cy="16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13" kern="100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Robotics &amp; Games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31395" y="4875092"/>
            <a:ext cx="1262677" cy="296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Low-cost movement planning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311405" y="5066724"/>
            <a:ext cx="1262677" cy="16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spc="-13" kern="100" dirty="0">
                <a:solidFill>
                  <a:srgbClr val="2A1A12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Network Design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311405" y="5300078"/>
            <a:ext cx="1262677" cy="296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Optimized routes for logistics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497873" y="0"/>
            <a:ext cx="4693822" cy="6858000"/>
          </a:xfrm>
          <a:prstGeom prst="rect">
            <a:avLst/>
          </a:prstGeom>
          <a:solidFill>
            <a:srgbClr val="F8E5C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67" y="228600"/>
            <a:ext cx="4236634" cy="608756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26467" y="6402145"/>
            <a:ext cx="4465228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One pattern, many route systems.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1038225"/>
            <a:ext cx="44652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spc="15" kern="100" dirty="0">
                <a:solidFill>
                  <a:srgbClr val="2A1A12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TAKEAWAY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8594" y="1370267"/>
            <a:ext cx="4160436" cy="1787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0" b="1" spc="-92" kern="100" dirty="0">
                <a:solidFill>
                  <a:srgbClr val="24140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Remember the condition</a:t>
            </a:r>
            <a:endParaRPr lang="en-US" sz="46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600" b="1" spc="-92" kern="100" dirty="0">
                <a:solidFill>
                  <a:srgbClr val="24140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and the pattern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228594" y="3379688"/>
            <a:ext cx="1372756" cy="69751"/>
          </a:xfrm>
          <a:prstGeom prst="roundRect">
            <a:avLst>
              <a:gd name="adj" fmla="val 49999"/>
            </a:avLst>
          </a:prstGeom>
          <a:solidFill>
            <a:srgbClr val="1E4D48"/>
          </a:solidFill>
          <a:ln/>
        </p:spPr>
      </p:sp>
      <p:sp>
        <p:nvSpPr>
          <p:cNvPr id="5" name="Text 3"/>
          <p:cNvSpPr/>
          <p:nvPr/>
        </p:nvSpPr>
        <p:spPr>
          <a:xfrm>
            <a:off x="228594" y="3695601"/>
            <a:ext cx="4160436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A1A1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Dijkstra finds a shortest path from one source to every reachable vertex when edge weights are non-negative. Its greedy choice becomes globally correct when no edge can undo it.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303308" y="1033066"/>
            <a:ext cx="3177500" cy="2070298"/>
          </a:xfrm>
          <a:prstGeom prst="rect">
            <a:avLst/>
          </a:prstGeom>
          <a:solidFill>
            <a:srgbClr val="F8E5CF"/>
          </a:solidFill>
          <a:ln/>
        </p:spPr>
      </p:sp>
      <p:sp>
        <p:nvSpPr>
          <p:cNvPr id="7" name="Shape 5"/>
          <p:cNvSpPr/>
          <p:nvPr/>
        </p:nvSpPr>
        <p:spPr>
          <a:xfrm>
            <a:off x="5506503" y="1210866"/>
            <a:ext cx="485763" cy="485775"/>
          </a:xfrm>
          <a:prstGeom prst="rect">
            <a:avLst/>
          </a:prstGeom>
          <a:solidFill>
            <a:srgbClr val="F2C04A"/>
          </a:solidFill>
          <a:ln/>
        </p:spPr>
      </p:sp>
      <p:sp>
        <p:nvSpPr>
          <p:cNvPr id="8" name="Text 6"/>
          <p:cNvSpPr/>
          <p:nvPr/>
        </p:nvSpPr>
        <p:spPr>
          <a:xfrm>
            <a:off x="5610779" y="1318816"/>
            <a:ext cx="88679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506503" y="1782961"/>
            <a:ext cx="2771110" cy="19050"/>
          </a:xfrm>
          <a:prstGeom prst="rect">
            <a:avLst/>
          </a:prstGeom>
          <a:solidFill>
            <a:srgbClr val="1E4D48"/>
          </a:solidFill>
          <a:ln/>
        </p:spPr>
      </p:sp>
      <p:sp>
        <p:nvSpPr>
          <p:cNvPr id="10" name="Text 8"/>
          <p:cNvSpPr/>
          <p:nvPr/>
        </p:nvSpPr>
        <p:spPr>
          <a:xfrm>
            <a:off x="5506503" y="1894483"/>
            <a:ext cx="2771110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Estimate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506503" y="2321123"/>
            <a:ext cx="277111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Start with tentative distances.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785601" y="1033066"/>
            <a:ext cx="3177500" cy="2070298"/>
          </a:xfrm>
          <a:prstGeom prst="rect">
            <a:avLst/>
          </a:prstGeom>
          <a:solidFill>
            <a:srgbClr val="F8E5CF"/>
          </a:solidFill>
          <a:ln/>
        </p:spPr>
      </p:sp>
      <p:sp>
        <p:nvSpPr>
          <p:cNvPr id="13" name="Shape 11"/>
          <p:cNvSpPr/>
          <p:nvPr/>
        </p:nvSpPr>
        <p:spPr>
          <a:xfrm>
            <a:off x="8988795" y="1210866"/>
            <a:ext cx="485763" cy="485775"/>
          </a:xfrm>
          <a:prstGeom prst="rect">
            <a:avLst/>
          </a:prstGeom>
          <a:solidFill>
            <a:srgbClr val="F2C04A"/>
          </a:solidFill>
          <a:ln/>
        </p:spPr>
      </p:sp>
      <p:sp>
        <p:nvSpPr>
          <p:cNvPr id="14" name="Text 12"/>
          <p:cNvSpPr/>
          <p:nvPr/>
        </p:nvSpPr>
        <p:spPr>
          <a:xfrm>
            <a:off x="9084440" y="1318816"/>
            <a:ext cx="904059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02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988795" y="1782961"/>
            <a:ext cx="2771110" cy="19050"/>
          </a:xfrm>
          <a:prstGeom prst="rect">
            <a:avLst/>
          </a:prstGeom>
          <a:solidFill>
            <a:srgbClr val="1E4D48"/>
          </a:solidFill>
          <a:ln/>
        </p:spPr>
      </p:sp>
      <p:sp>
        <p:nvSpPr>
          <p:cNvPr id="16" name="Text 14"/>
          <p:cNvSpPr/>
          <p:nvPr/>
        </p:nvSpPr>
        <p:spPr>
          <a:xfrm>
            <a:off x="8988795" y="1894483"/>
            <a:ext cx="2771110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Choose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988795" y="2321123"/>
            <a:ext cx="297430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Take the smallest.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303308" y="3408164"/>
            <a:ext cx="3177500" cy="1768078"/>
          </a:xfrm>
          <a:prstGeom prst="rect">
            <a:avLst/>
          </a:prstGeom>
          <a:solidFill>
            <a:srgbClr val="F8E5CF"/>
          </a:solidFill>
          <a:ln/>
        </p:spPr>
      </p:sp>
      <p:sp>
        <p:nvSpPr>
          <p:cNvPr id="19" name="Shape 17"/>
          <p:cNvSpPr/>
          <p:nvPr/>
        </p:nvSpPr>
        <p:spPr>
          <a:xfrm>
            <a:off x="5506503" y="3585964"/>
            <a:ext cx="485763" cy="485775"/>
          </a:xfrm>
          <a:prstGeom prst="rect">
            <a:avLst/>
          </a:prstGeom>
          <a:solidFill>
            <a:srgbClr val="F2C04A"/>
          </a:solidFill>
          <a:ln/>
        </p:spPr>
      </p:sp>
      <p:sp>
        <p:nvSpPr>
          <p:cNvPr id="20" name="Text 18"/>
          <p:cNvSpPr/>
          <p:nvPr/>
        </p:nvSpPr>
        <p:spPr>
          <a:xfrm>
            <a:off x="5601552" y="3693914"/>
            <a:ext cx="90515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506503" y="4158059"/>
            <a:ext cx="2771110" cy="19050"/>
          </a:xfrm>
          <a:prstGeom prst="rect">
            <a:avLst/>
          </a:prstGeom>
          <a:solidFill>
            <a:srgbClr val="1E4D48"/>
          </a:solidFill>
          <a:ln/>
        </p:spPr>
      </p:sp>
      <p:sp>
        <p:nvSpPr>
          <p:cNvPr id="22" name="Text 20"/>
          <p:cNvSpPr/>
          <p:nvPr/>
        </p:nvSpPr>
        <p:spPr>
          <a:xfrm>
            <a:off x="5506503" y="4269581"/>
            <a:ext cx="2771110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Finalize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506503" y="4696222"/>
            <a:ext cx="297430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Make it permanent.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785601" y="3408164"/>
            <a:ext cx="3177500" cy="1768078"/>
          </a:xfrm>
          <a:prstGeom prst="rect">
            <a:avLst/>
          </a:prstGeom>
          <a:solidFill>
            <a:srgbClr val="F8E5CF"/>
          </a:solidFill>
          <a:ln/>
        </p:spPr>
      </p:sp>
      <p:sp>
        <p:nvSpPr>
          <p:cNvPr id="25" name="Shape 23"/>
          <p:cNvSpPr/>
          <p:nvPr/>
        </p:nvSpPr>
        <p:spPr>
          <a:xfrm>
            <a:off x="8988795" y="3585964"/>
            <a:ext cx="485763" cy="485775"/>
          </a:xfrm>
          <a:prstGeom prst="rect">
            <a:avLst/>
          </a:prstGeom>
          <a:solidFill>
            <a:srgbClr val="F2C04A"/>
          </a:solidFill>
          <a:ln/>
        </p:spPr>
      </p:sp>
      <p:sp>
        <p:nvSpPr>
          <p:cNvPr id="26" name="Text 24"/>
          <p:cNvSpPr/>
          <p:nvPr/>
        </p:nvSpPr>
        <p:spPr>
          <a:xfrm>
            <a:off x="9076403" y="3693914"/>
            <a:ext cx="920032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04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8988795" y="4158059"/>
            <a:ext cx="2771110" cy="19050"/>
          </a:xfrm>
          <a:prstGeom prst="rect">
            <a:avLst/>
          </a:prstGeom>
          <a:solidFill>
            <a:srgbClr val="1E4D48"/>
          </a:solidFill>
          <a:ln/>
        </p:spPr>
      </p:sp>
      <p:sp>
        <p:nvSpPr>
          <p:cNvPr id="28" name="Text 26"/>
          <p:cNvSpPr/>
          <p:nvPr/>
        </p:nvSpPr>
        <p:spPr>
          <a:xfrm>
            <a:off x="8988795" y="4269581"/>
            <a:ext cx="2771110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Relax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8988795" y="4696222"/>
            <a:ext cx="297430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Improve neighbors.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303308" y="5370171"/>
            <a:ext cx="6659793" cy="45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b="1" dirty="0">
                <a:solidFill>
                  <a:srgbClr val="4E2E1F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Use Bellman–Ford</a:t>
            </a:r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4E2E1F"/>
                </a:solidFill>
                <a:latin typeface="Fira Sans Condensed Medium" pitchFamily="34" charset="0"/>
                <a:ea typeface="Fira Sans Condensed Medium" pitchFamily="34" charset="-122"/>
                <a:cs typeface="Fira Sans Condensed Medium" pitchFamily="34" charset="-120"/>
              </a:rPr>
              <a:t> when negative edges may exist. </a:t>
            </a:r>
            <a:pPr algn="l" indent="0" marL="0">
              <a:lnSpc>
                <a:spcPct val="107000"/>
              </a:lnSpc>
              <a:buNone/>
            </a:pPr>
            <a:r>
              <a:rPr lang="en-US" sz="1400" b="1" dirty="0">
                <a:solidFill>
                  <a:srgbClr val="4E2E1F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Use BFS</a:t>
            </a:r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4E2E1F"/>
                </a:solidFill>
                <a:latin typeface="Fira Sans Condensed Medium" pitchFamily="34" charset="0"/>
                <a:ea typeface="Fira Sans Condensed Medium" pitchFamily="34" charset="-122"/>
                <a:cs typeface="Fira Sans Condensed Medium" pitchFamily="34" charset="-120"/>
              </a:rPr>
              <a:t> when every edge has equal cost.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2026-10-19T15:06:42Z</dcterms:created>
  <dcterms:modified xsi:type="dcterms:W3CDTF">2026-10-19T15:06:42Z</dcterms:modified>
</cp:coreProperties>
</file>